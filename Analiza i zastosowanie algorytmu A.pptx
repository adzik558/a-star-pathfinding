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56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Styl jasny 1 — Ak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 jasny 3 — Ak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A26F6F-630D-41E4-9328-6BAD7454821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F038C5A-5373-475F-917E-E523C328DDFF}">
      <dgm:prSet/>
      <dgm:spPr/>
      <dgm:t>
        <a:bodyPr/>
        <a:lstStyle/>
        <a:p>
          <a:r>
            <a:rPr lang="pl-PL"/>
            <a:t>Sprawdzenie, jak skuteczny jest A* w różnych środowiskach</a:t>
          </a:r>
          <a:endParaRPr lang="en-US"/>
        </a:p>
      </dgm:t>
    </dgm:pt>
    <dgm:pt modelId="{C0800568-E00A-4151-988D-597CED61E14B}" type="parTrans" cxnId="{D4C6AC2F-401B-4BD9-984F-F3548E966FD1}">
      <dgm:prSet/>
      <dgm:spPr/>
      <dgm:t>
        <a:bodyPr/>
        <a:lstStyle/>
        <a:p>
          <a:endParaRPr lang="en-US"/>
        </a:p>
      </dgm:t>
    </dgm:pt>
    <dgm:pt modelId="{6B102696-3EA5-4765-A8EE-9528882A11F2}" type="sibTrans" cxnId="{D4C6AC2F-401B-4BD9-984F-F3548E966FD1}">
      <dgm:prSet/>
      <dgm:spPr/>
      <dgm:t>
        <a:bodyPr/>
        <a:lstStyle/>
        <a:p>
          <a:endParaRPr lang="en-US"/>
        </a:p>
      </dgm:t>
    </dgm:pt>
    <dgm:pt modelId="{67C4D617-499F-4801-BABB-42434EAD2938}">
      <dgm:prSet/>
      <dgm:spPr/>
      <dgm:t>
        <a:bodyPr/>
        <a:lstStyle/>
        <a:p>
          <a:r>
            <a:rPr lang="pl-PL"/>
            <a:t>Porównanie go z innymi algorytmami tj. Dijkstra, BFS</a:t>
          </a:r>
          <a:endParaRPr lang="en-US"/>
        </a:p>
      </dgm:t>
    </dgm:pt>
    <dgm:pt modelId="{43CC006D-107A-448A-B883-0BA1FB553547}" type="parTrans" cxnId="{54210133-4212-40FF-9E21-EA3D9F15A9E9}">
      <dgm:prSet/>
      <dgm:spPr/>
      <dgm:t>
        <a:bodyPr/>
        <a:lstStyle/>
        <a:p>
          <a:endParaRPr lang="en-US"/>
        </a:p>
      </dgm:t>
    </dgm:pt>
    <dgm:pt modelId="{E438FE10-71D4-48D5-A04E-D9F7149F9691}" type="sibTrans" cxnId="{54210133-4212-40FF-9E21-EA3D9F15A9E9}">
      <dgm:prSet/>
      <dgm:spPr/>
      <dgm:t>
        <a:bodyPr/>
        <a:lstStyle/>
        <a:p>
          <a:endParaRPr lang="en-US"/>
        </a:p>
      </dgm:t>
    </dgm:pt>
    <dgm:pt modelId="{033252F1-A774-4BEF-AF95-38E28FA3E040}" type="pres">
      <dgm:prSet presAssocID="{02A26F6F-630D-41E4-9328-6BAD745482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461C5E-46CE-4998-9C6B-C1C050E60CB8}" type="pres">
      <dgm:prSet presAssocID="{CF038C5A-5373-475F-917E-E523C328DDFF}" presName="hierRoot1" presStyleCnt="0"/>
      <dgm:spPr/>
    </dgm:pt>
    <dgm:pt modelId="{C11B0E42-5139-459C-850B-B4873C77BCA8}" type="pres">
      <dgm:prSet presAssocID="{CF038C5A-5373-475F-917E-E523C328DDFF}" presName="composite" presStyleCnt="0"/>
      <dgm:spPr/>
    </dgm:pt>
    <dgm:pt modelId="{5558EC24-02D2-40FF-B28D-37E2A763FDB2}" type="pres">
      <dgm:prSet presAssocID="{CF038C5A-5373-475F-917E-E523C328DDFF}" presName="background" presStyleLbl="node0" presStyleIdx="0" presStyleCnt="2"/>
      <dgm:spPr/>
    </dgm:pt>
    <dgm:pt modelId="{565CB58C-61E1-4FE0-BD59-D271AB4633BB}" type="pres">
      <dgm:prSet presAssocID="{CF038C5A-5373-475F-917E-E523C328DDFF}" presName="text" presStyleLbl="fgAcc0" presStyleIdx="0" presStyleCnt="2">
        <dgm:presLayoutVars>
          <dgm:chPref val="3"/>
        </dgm:presLayoutVars>
      </dgm:prSet>
      <dgm:spPr/>
    </dgm:pt>
    <dgm:pt modelId="{861B3D37-3F5F-4CE1-A1BA-CD003126780D}" type="pres">
      <dgm:prSet presAssocID="{CF038C5A-5373-475F-917E-E523C328DDFF}" presName="hierChild2" presStyleCnt="0"/>
      <dgm:spPr/>
    </dgm:pt>
    <dgm:pt modelId="{9FAAF75D-8EB6-4468-B0CA-783BD70B10B1}" type="pres">
      <dgm:prSet presAssocID="{67C4D617-499F-4801-BABB-42434EAD2938}" presName="hierRoot1" presStyleCnt="0"/>
      <dgm:spPr/>
    </dgm:pt>
    <dgm:pt modelId="{394CD1A1-9554-4706-B568-6B054A6E1311}" type="pres">
      <dgm:prSet presAssocID="{67C4D617-499F-4801-BABB-42434EAD2938}" presName="composite" presStyleCnt="0"/>
      <dgm:spPr/>
    </dgm:pt>
    <dgm:pt modelId="{C229BC4B-CD4A-4C8E-8E88-F79DF544151A}" type="pres">
      <dgm:prSet presAssocID="{67C4D617-499F-4801-BABB-42434EAD2938}" presName="background" presStyleLbl="node0" presStyleIdx="1" presStyleCnt="2"/>
      <dgm:spPr/>
    </dgm:pt>
    <dgm:pt modelId="{769D3368-C706-4707-A3A3-13EA5B3345D8}" type="pres">
      <dgm:prSet presAssocID="{67C4D617-499F-4801-BABB-42434EAD2938}" presName="text" presStyleLbl="fgAcc0" presStyleIdx="1" presStyleCnt="2">
        <dgm:presLayoutVars>
          <dgm:chPref val="3"/>
        </dgm:presLayoutVars>
      </dgm:prSet>
      <dgm:spPr/>
    </dgm:pt>
    <dgm:pt modelId="{0C693E7E-05E7-40C1-9BB4-7D82676FCBC1}" type="pres">
      <dgm:prSet presAssocID="{67C4D617-499F-4801-BABB-42434EAD2938}" presName="hierChild2" presStyleCnt="0"/>
      <dgm:spPr/>
    </dgm:pt>
  </dgm:ptLst>
  <dgm:cxnLst>
    <dgm:cxn modelId="{F6B9A62A-446E-4DC9-8B23-AD90C8F2C677}" type="presOf" srcId="{02A26F6F-630D-41E4-9328-6BAD7454821A}" destId="{033252F1-A774-4BEF-AF95-38E28FA3E040}" srcOrd="0" destOrd="0" presId="urn:microsoft.com/office/officeart/2005/8/layout/hierarchy1"/>
    <dgm:cxn modelId="{D4C6AC2F-401B-4BD9-984F-F3548E966FD1}" srcId="{02A26F6F-630D-41E4-9328-6BAD7454821A}" destId="{CF038C5A-5373-475F-917E-E523C328DDFF}" srcOrd="0" destOrd="0" parTransId="{C0800568-E00A-4151-988D-597CED61E14B}" sibTransId="{6B102696-3EA5-4765-A8EE-9528882A11F2}"/>
    <dgm:cxn modelId="{54210133-4212-40FF-9E21-EA3D9F15A9E9}" srcId="{02A26F6F-630D-41E4-9328-6BAD7454821A}" destId="{67C4D617-499F-4801-BABB-42434EAD2938}" srcOrd="1" destOrd="0" parTransId="{43CC006D-107A-448A-B883-0BA1FB553547}" sibTransId="{E438FE10-71D4-48D5-A04E-D9F7149F9691}"/>
    <dgm:cxn modelId="{BD6D6153-D133-492D-BBF0-B01AC8E2D96C}" type="presOf" srcId="{67C4D617-499F-4801-BABB-42434EAD2938}" destId="{769D3368-C706-4707-A3A3-13EA5B3345D8}" srcOrd="0" destOrd="0" presId="urn:microsoft.com/office/officeart/2005/8/layout/hierarchy1"/>
    <dgm:cxn modelId="{7506DB59-7F36-49F5-8298-312ABAB620BE}" type="presOf" srcId="{CF038C5A-5373-475F-917E-E523C328DDFF}" destId="{565CB58C-61E1-4FE0-BD59-D271AB4633BB}" srcOrd="0" destOrd="0" presId="urn:microsoft.com/office/officeart/2005/8/layout/hierarchy1"/>
    <dgm:cxn modelId="{009A2C55-8AD9-4B72-90BF-1689EAC2BFAB}" type="presParOf" srcId="{033252F1-A774-4BEF-AF95-38E28FA3E040}" destId="{CF461C5E-46CE-4998-9C6B-C1C050E60CB8}" srcOrd="0" destOrd="0" presId="urn:microsoft.com/office/officeart/2005/8/layout/hierarchy1"/>
    <dgm:cxn modelId="{FA368851-5359-4702-9DDF-7AA6EF89E452}" type="presParOf" srcId="{CF461C5E-46CE-4998-9C6B-C1C050E60CB8}" destId="{C11B0E42-5139-459C-850B-B4873C77BCA8}" srcOrd="0" destOrd="0" presId="urn:microsoft.com/office/officeart/2005/8/layout/hierarchy1"/>
    <dgm:cxn modelId="{DF99B593-E26F-43CC-90D1-1F8DA4DC941D}" type="presParOf" srcId="{C11B0E42-5139-459C-850B-B4873C77BCA8}" destId="{5558EC24-02D2-40FF-B28D-37E2A763FDB2}" srcOrd="0" destOrd="0" presId="urn:microsoft.com/office/officeart/2005/8/layout/hierarchy1"/>
    <dgm:cxn modelId="{F5DCBCCA-DCF9-4AD7-9E8A-495784CC5247}" type="presParOf" srcId="{C11B0E42-5139-459C-850B-B4873C77BCA8}" destId="{565CB58C-61E1-4FE0-BD59-D271AB4633BB}" srcOrd="1" destOrd="0" presId="urn:microsoft.com/office/officeart/2005/8/layout/hierarchy1"/>
    <dgm:cxn modelId="{3F677CF7-EAB1-40B5-9DAD-7AE9917EF91D}" type="presParOf" srcId="{CF461C5E-46CE-4998-9C6B-C1C050E60CB8}" destId="{861B3D37-3F5F-4CE1-A1BA-CD003126780D}" srcOrd="1" destOrd="0" presId="urn:microsoft.com/office/officeart/2005/8/layout/hierarchy1"/>
    <dgm:cxn modelId="{FD4782E1-3BCC-4D95-8825-3DB895490E19}" type="presParOf" srcId="{033252F1-A774-4BEF-AF95-38E28FA3E040}" destId="{9FAAF75D-8EB6-4468-B0CA-783BD70B10B1}" srcOrd="1" destOrd="0" presId="urn:microsoft.com/office/officeart/2005/8/layout/hierarchy1"/>
    <dgm:cxn modelId="{67F28D14-5D5E-4733-9DB9-8E8FFC3A86A0}" type="presParOf" srcId="{9FAAF75D-8EB6-4468-B0CA-783BD70B10B1}" destId="{394CD1A1-9554-4706-B568-6B054A6E1311}" srcOrd="0" destOrd="0" presId="urn:microsoft.com/office/officeart/2005/8/layout/hierarchy1"/>
    <dgm:cxn modelId="{BC53EB2E-488E-4491-AE75-9F0E630F3EFC}" type="presParOf" srcId="{394CD1A1-9554-4706-B568-6B054A6E1311}" destId="{C229BC4B-CD4A-4C8E-8E88-F79DF544151A}" srcOrd="0" destOrd="0" presId="urn:microsoft.com/office/officeart/2005/8/layout/hierarchy1"/>
    <dgm:cxn modelId="{5047EC25-121A-4343-B828-586E45D79857}" type="presParOf" srcId="{394CD1A1-9554-4706-B568-6B054A6E1311}" destId="{769D3368-C706-4707-A3A3-13EA5B3345D8}" srcOrd="1" destOrd="0" presId="urn:microsoft.com/office/officeart/2005/8/layout/hierarchy1"/>
    <dgm:cxn modelId="{F2513990-495F-4DC7-8E1E-D3FB84E9FBF9}" type="presParOf" srcId="{9FAAF75D-8EB6-4468-B0CA-783BD70B10B1}" destId="{0C693E7E-05E7-40C1-9BB4-7D82676FCB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6EBDB5-DF17-4BB8-9F11-8AE23E5FD7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1026F7-3FFF-42D6-8D20-75DAA6A44099}">
      <dgm:prSet/>
      <dgm:spPr/>
      <dgm:t>
        <a:bodyPr/>
        <a:lstStyle/>
        <a:p>
          <a:r>
            <a:rPr lang="pl-PL" dirty="0"/>
            <a:t>A* z heurystyką Euklidesową</a:t>
          </a:r>
          <a:endParaRPr lang="en-US" dirty="0"/>
        </a:p>
      </dgm:t>
    </dgm:pt>
    <dgm:pt modelId="{BA9EBE2A-C785-4EBE-9F76-3670C4BEE40A}" type="parTrans" cxnId="{B7F68D53-F1BC-42BE-8EE3-133624CCCFD9}">
      <dgm:prSet/>
      <dgm:spPr/>
      <dgm:t>
        <a:bodyPr/>
        <a:lstStyle/>
        <a:p>
          <a:endParaRPr lang="en-US"/>
        </a:p>
      </dgm:t>
    </dgm:pt>
    <dgm:pt modelId="{05D6A90D-8AE5-4394-A815-9F796247C7F2}" type="sibTrans" cxnId="{B7F68D53-F1BC-42BE-8EE3-133624CCCFD9}">
      <dgm:prSet/>
      <dgm:spPr/>
      <dgm:t>
        <a:bodyPr/>
        <a:lstStyle/>
        <a:p>
          <a:endParaRPr lang="en-US"/>
        </a:p>
      </dgm:t>
    </dgm:pt>
    <dgm:pt modelId="{5086CA7D-7E5C-46EE-9564-70600B620773}">
      <dgm:prSet/>
      <dgm:spPr/>
      <dgm:t>
        <a:bodyPr/>
        <a:lstStyle/>
        <a:p>
          <a:r>
            <a:rPr lang="pl-PL"/>
            <a:t>A* z heurystyką Manhattan</a:t>
          </a:r>
          <a:endParaRPr lang="en-US"/>
        </a:p>
      </dgm:t>
    </dgm:pt>
    <dgm:pt modelId="{2D8ED648-2D20-4A37-87FA-588770CDEFD0}" type="parTrans" cxnId="{6EE6CC50-757E-4059-80F7-311D7265635F}">
      <dgm:prSet/>
      <dgm:spPr/>
      <dgm:t>
        <a:bodyPr/>
        <a:lstStyle/>
        <a:p>
          <a:endParaRPr lang="en-US"/>
        </a:p>
      </dgm:t>
    </dgm:pt>
    <dgm:pt modelId="{18DDFA45-CAC6-4886-A26F-A9F5600F592E}" type="sibTrans" cxnId="{6EE6CC50-757E-4059-80F7-311D7265635F}">
      <dgm:prSet/>
      <dgm:spPr/>
      <dgm:t>
        <a:bodyPr/>
        <a:lstStyle/>
        <a:p>
          <a:endParaRPr lang="en-US"/>
        </a:p>
      </dgm:t>
    </dgm:pt>
    <dgm:pt modelId="{57B4BEF9-AEE7-4DA5-AF19-297CDC77FDF0}">
      <dgm:prSet/>
      <dgm:spPr/>
      <dgm:t>
        <a:bodyPr/>
        <a:lstStyle/>
        <a:p>
          <a:r>
            <a:rPr lang="pl-PL"/>
            <a:t>Dijkstra</a:t>
          </a:r>
          <a:endParaRPr lang="en-US"/>
        </a:p>
      </dgm:t>
    </dgm:pt>
    <dgm:pt modelId="{A7CAAC86-FE6C-4D2E-BB77-253EDE6DFEE2}" type="parTrans" cxnId="{E23D22B4-29AF-4808-BC22-51388A30CA24}">
      <dgm:prSet/>
      <dgm:spPr/>
      <dgm:t>
        <a:bodyPr/>
        <a:lstStyle/>
        <a:p>
          <a:endParaRPr lang="en-US"/>
        </a:p>
      </dgm:t>
    </dgm:pt>
    <dgm:pt modelId="{701D83D7-12B3-4EC9-A8C2-1EA2206DC712}" type="sibTrans" cxnId="{E23D22B4-29AF-4808-BC22-51388A30CA24}">
      <dgm:prSet/>
      <dgm:spPr/>
      <dgm:t>
        <a:bodyPr/>
        <a:lstStyle/>
        <a:p>
          <a:endParaRPr lang="en-US"/>
        </a:p>
      </dgm:t>
    </dgm:pt>
    <dgm:pt modelId="{56FBACF1-AA57-4614-8FD4-F3AE63C69764}">
      <dgm:prSet/>
      <dgm:spPr/>
      <dgm:t>
        <a:bodyPr/>
        <a:lstStyle/>
        <a:p>
          <a:r>
            <a:rPr lang="pl-PL"/>
            <a:t>BFS</a:t>
          </a:r>
          <a:endParaRPr lang="en-US"/>
        </a:p>
      </dgm:t>
    </dgm:pt>
    <dgm:pt modelId="{AC8D953F-0A81-481C-9E44-91257673F3E8}" type="parTrans" cxnId="{05A7C8A7-2262-4125-9CB7-3615B4971F04}">
      <dgm:prSet/>
      <dgm:spPr/>
      <dgm:t>
        <a:bodyPr/>
        <a:lstStyle/>
        <a:p>
          <a:endParaRPr lang="en-US"/>
        </a:p>
      </dgm:t>
    </dgm:pt>
    <dgm:pt modelId="{A8FB3935-45C6-4BE4-9223-8C8899B4A246}" type="sibTrans" cxnId="{05A7C8A7-2262-4125-9CB7-3615B4971F04}">
      <dgm:prSet/>
      <dgm:spPr/>
      <dgm:t>
        <a:bodyPr/>
        <a:lstStyle/>
        <a:p>
          <a:endParaRPr lang="en-US"/>
        </a:p>
      </dgm:t>
    </dgm:pt>
    <dgm:pt modelId="{3E6A935A-9EE0-48E9-BA3D-354CB5B5B40D}">
      <dgm:prSet/>
      <dgm:spPr/>
      <dgm:t>
        <a:bodyPr/>
        <a:lstStyle/>
        <a:p>
          <a:r>
            <a:rPr lang="pl-PL" dirty="0"/>
            <a:t>DFS (pominięty w przypadku mapy drogowej)</a:t>
          </a:r>
          <a:endParaRPr lang="en-US" dirty="0"/>
        </a:p>
      </dgm:t>
    </dgm:pt>
    <dgm:pt modelId="{FC1E1834-1868-4ACC-A4CB-D54589AE50C7}" type="parTrans" cxnId="{93892F3E-14F6-4825-BD29-A5962C1CC950}">
      <dgm:prSet/>
      <dgm:spPr/>
      <dgm:t>
        <a:bodyPr/>
        <a:lstStyle/>
        <a:p>
          <a:endParaRPr lang="pl-PL"/>
        </a:p>
      </dgm:t>
    </dgm:pt>
    <dgm:pt modelId="{EC3F6BF9-C061-484D-8BA8-98383D671D76}" type="sibTrans" cxnId="{93892F3E-14F6-4825-BD29-A5962C1CC950}">
      <dgm:prSet/>
      <dgm:spPr/>
      <dgm:t>
        <a:bodyPr/>
        <a:lstStyle/>
        <a:p>
          <a:endParaRPr lang="pl-PL"/>
        </a:p>
      </dgm:t>
    </dgm:pt>
    <dgm:pt modelId="{5E8ADF10-8331-4FDF-B695-1A2ACE2B21D5}" type="pres">
      <dgm:prSet presAssocID="{B46EBDB5-DF17-4BB8-9F11-8AE23E5FD712}" presName="linear" presStyleCnt="0">
        <dgm:presLayoutVars>
          <dgm:animLvl val="lvl"/>
          <dgm:resizeHandles val="exact"/>
        </dgm:presLayoutVars>
      </dgm:prSet>
      <dgm:spPr/>
    </dgm:pt>
    <dgm:pt modelId="{8A6935CA-1AD1-40BD-9B58-0B49840AD9C8}" type="pres">
      <dgm:prSet presAssocID="{161026F7-3FFF-42D6-8D20-75DAA6A4409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CAEA1C0-71B9-4E19-B4EF-81E7673F94FB}" type="pres">
      <dgm:prSet presAssocID="{05D6A90D-8AE5-4394-A815-9F796247C7F2}" presName="spacer" presStyleCnt="0"/>
      <dgm:spPr/>
    </dgm:pt>
    <dgm:pt modelId="{BF8B0780-3A00-45D1-8A69-66DB81037EE3}" type="pres">
      <dgm:prSet presAssocID="{5086CA7D-7E5C-46EE-9564-70600B6207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32AECDE-8F99-472C-9D7E-C02868711809}" type="pres">
      <dgm:prSet presAssocID="{18DDFA45-CAC6-4886-A26F-A9F5600F592E}" presName="spacer" presStyleCnt="0"/>
      <dgm:spPr/>
    </dgm:pt>
    <dgm:pt modelId="{DA453BF0-00D3-41A8-B0AD-D099D3254409}" type="pres">
      <dgm:prSet presAssocID="{57B4BEF9-AEE7-4DA5-AF19-297CDC77FD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CE2EF86-DDE4-4EA6-AC97-265A3F75A72E}" type="pres">
      <dgm:prSet presAssocID="{701D83D7-12B3-4EC9-A8C2-1EA2206DC712}" presName="spacer" presStyleCnt="0"/>
      <dgm:spPr/>
    </dgm:pt>
    <dgm:pt modelId="{3FBDF355-2604-4E9D-A004-E68E249114A1}" type="pres">
      <dgm:prSet presAssocID="{56FBACF1-AA57-4614-8FD4-F3AE63C6976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52515EB-09C3-44F1-99E0-FACAB0D7BE37}" type="pres">
      <dgm:prSet presAssocID="{A8FB3935-45C6-4BE4-9223-8C8899B4A246}" presName="spacer" presStyleCnt="0"/>
      <dgm:spPr/>
    </dgm:pt>
    <dgm:pt modelId="{096A5474-9FF9-4B0D-BBD7-69FC20F392BC}" type="pres">
      <dgm:prSet presAssocID="{3E6A935A-9EE0-48E9-BA3D-354CB5B5B40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7D3E42F-38B2-45BC-8398-2FC177966807}" type="presOf" srcId="{B46EBDB5-DF17-4BB8-9F11-8AE23E5FD712}" destId="{5E8ADF10-8331-4FDF-B695-1A2ACE2B21D5}" srcOrd="0" destOrd="0" presId="urn:microsoft.com/office/officeart/2005/8/layout/vList2"/>
    <dgm:cxn modelId="{93892F3E-14F6-4825-BD29-A5962C1CC950}" srcId="{B46EBDB5-DF17-4BB8-9F11-8AE23E5FD712}" destId="{3E6A935A-9EE0-48E9-BA3D-354CB5B5B40D}" srcOrd="4" destOrd="0" parTransId="{FC1E1834-1868-4ACC-A4CB-D54589AE50C7}" sibTransId="{EC3F6BF9-C061-484D-8BA8-98383D671D76}"/>
    <dgm:cxn modelId="{007F8670-53B1-45B0-9D14-EA5072375912}" type="presOf" srcId="{56FBACF1-AA57-4614-8FD4-F3AE63C69764}" destId="{3FBDF355-2604-4E9D-A004-E68E249114A1}" srcOrd="0" destOrd="0" presId="urn:microsoft.com/office/officeart/2005/8/layout/vList2"/>
    <dgm:cxn modelId="{6EE6CC50-757E-4059-80F7-311D7265635F}" srcId="{B46EBDB5-DF17-4BB8-9F11-8AE23E5FD712}" destId="{5086CA7D-7E5C-46EE-9564-70600B620773}" srcOrd="1" destOrd="0" parTransId="{2D8ED648-2D20-4A37-87FA-588770CDEFD0}" sibTransId="{18DDFA45-CAC6-4886-A26F-A9F5600F592E}"/>
    <dgm:cxn modelId="{B7F68D53-F1BC-42BE-8EE3-133624CCCFD9}" srcId="{B46EBDB5-DF17-4BB8-9F11-8AE23E5FD712}" destId="{161026F7-3FFF-42D6-8D20-75DAA6A44099}" srcOrd="0" destOrd="0" parTransId="{BA9EBE2A-C785-4EBE-9F76-3670C4BEE40A}" sibTransId="{05D6A90D-8AE5-4394-A815-9F796247C7F2}"/>
    <dgm:cxn modelId="{CDD7D555-A61E-4AD1-AE60-B3D02E912D68}" type="presOf" srcId="{57B4BEF9-AEE7-4DA5-AF19-297CDC77FDF0}" destId="{DA453BF0-00D3-41A8-B0AD-D099D3254409}" srcOrd="0" destOrd="0" presId="urn:microsoft.com/office/officeart/2005/8/layout/vList2"/>
    <dgm:cxn modelId="{05A7C8A7-2262-4125-9CB7-3615B4971F04}" srcId="{B46EBDB5-DF17-4BB8-9F11-8AE23E5FD712}" destId="{56FBACF1-AA57-4614-8FD4-F3AE63C69764}" srcOrd="3" destOrd="0" parTransId="{AC8D953F-0A81-481C-9E44-91257673F3E8}" sibTransId="{A8FB3935-45C6-4BE4-9223-8C8899B4A246}"/>
    <dgm:cxn modelId="{E23D22B4-29AF-4808-BC22-51388A30CA24}" srcId="{B46EBDB5-DF17-4BB8-9F11-8AE23E5FD712}" destId="{57B4BEF9-AEE7-4DA5-AF19-297CDC77FDF0}" srcOrd="2" destOrd="0" parTransId="{A7CAAC86-FE6C-4D2E-BB77-253EDE6DFEE2}" sibTransId="{701D83D7-12B3-4EC9-A8C2-1EA2206DC712}"/>
    <dgm:cxn modelId="{6AE714E2-7C32-4445-9D6C-30C80624F278}" type="presOf" srcId="{161026F7-3FFF-42D6-8D20-75DAA6A44099}" destId="{8A6935CA-1AD1-40BD-9B58-0B49840AD9C8}" srcOrd="0" destOrd="0" presId="urn:microsoft.com/office/officeart/2005/8/layout/vList2"/>
    <dgm:cxn modelId="{A8F71BEC-78E5-4987-A2CE-072068D6C644}" type="presOf" srcId="{5086CA7D-7E5C-46EE-9564-70600B620773}" destId="{BF8B0780-3A00-45D1-8A69-66DB81037EE3}" srcOrd="0" destOrd="0" presId="urn:microsoft.com/office/officeart/2005/8/layout/vList2"/>
    <dgm:cxn modelId="{A03DC9FF-F326-4805-861D-F52A4AA6C596}" type="presOf" srcId="{3E6A935A-9EE0-48E9-BA3D-354CB5B5B40D}" destId="{096A5474-9FF9-4B0D-BBD7-69FC20F392BC}" srcOrd="0" destOrd="0" presId="urn:microsoft.com/office/officeart/2005/8/layout/vList2"/>
    <dgm:cxn modelId="{F555A7FB-5884-441E-BBA9-67BCC1C810FA}" type="presParOf" srcId="{5E8ADF10-8331-4FDF-B695-1A2ACE2B21D5}" destId="{8A6935CA-1AD1-40BD-9B58-0B49840AD9C8}" srcOrd="0" destOrd="0" presId="urn:microsoft.com/office/officeart/2005/8/layout/vList2"/>
    <dgm:cxn modelId="{2B2B3409-0D44-4977-B3DB-9456B26B9897}" type="presParOf" srcId="{5E8ADF10-8331-4FDF-B695-1A2ACE2B21D5}" destId="{ECAEA1C0-71B9-4E19-B4EF-81E7673F94FB}" srcOrd="1" destOrd="0" presId="urn:microsoft.com/office/officeart/2005/8/layout/vList2"/>
    <dgm:cxn modelId="{783790D5-4609-4170-AC62-A63187675D4A}" type="presParOf" srcId="{5E8ADF10-8331-4FDF-B695-1A2ACE2B21D5}" destId="{BF8B0780-3A00-45D1-8A69-66DB81037EE3}" srcOrd="2" destOrd="0" presId="urn:microsoft.com/office/officeart/2005/8/layout/vList2"/>
    <dgm:cxn modelId="{9E9540EA-8400-48FD-93AD-8EB19140A224}" type="presParOf" srcId="{5E8ADF10-8331-4FDF-B695-1A2ACE2B21D5}" destId="{732AECDE-8F99-472C-9D7E-C02868711809}" srcOrd="3" destOrd="0" presId="urn:microsoft.com/office/officeart/2005/8/layout/vList2"/>
    <dgm:cxn modelId="{7D05FD15-AA05-42D7-82AE-DFE693AE14EC}" type="presParOf" srcId="{5E8ADF10-8331-4FDF-B695-1A2ACE2B21D5}" destId="{DA453BF0-00D3-41A8-B0AD-D099D3254409}" srcOrd="4" destOrd="0" presId="urn:microsoft.com/office/officeart/2005/8/layout/vList2"/>
    <dgm:cxn modelId="{64010352-A2A7-4199-B516-67386A194093}" type="presParOf" srcId="{5E8ADF10-8331-4FDF-B695-1A2ACE2B21D5}" destId="{7CE2EF86-DDE4-4EA6-AC97-265A3F75A72E}" srcOrd="5" destOrd="0" presId="urn:microsoft.com/office/officeart/2005/8/layout/vList2"/>
    <dgm:cxn modelId="{F8F1CAF3-071F-45BC-A68E-85640BD36D00}" type="presParOf" srcId="{5E8ADF10-8331-4FDF-B695-1A2ACE2B21D5}" destId="{3FBDF355-2604-4E9D-A004-E68E249114A1}" srcOrd="6" destOrd="0" presId="urn:microsoft.com/office/officeart/2005/8/layout/vList2"/>
    <dgm:cxn modelId="{F5B3FC15-BBA2-46D2-A128-D23A0BC04630}" type="presParOf" srcId="{5E8ADF10-8331-4FDF-B695-1A2ACE2B21D5}" destId="{452515EB-09C3-44F1-99E0-FACAB0D7BE37}" srcOrd="7" destOrd="0" presId="urn:microsoft.com/office/officeart/2005/8/layout/vList2"/>
    <dgm:cxn modelId="{EFC5F27E-E4B6-4552-A190-F1D93DBCBB1B}" type="presParOf" srcId="{5E8ADF10-8331-4FDF-B695-1A2ACE2B21D5}" destId="{096A5474-9FF9-4B0D-BBD7-69FC20F392B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6EBDB5-DF17-4BB8-9F11-8AE23E5FD7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1026F7-3FFF-42D6-8D20-75DAA6A44099}">
      <dgm:prSet/>
      <dgm:spPr/>
      <dgm:t>
        <a:bodyPr/>
        <a:lstStyle/>
        <a:p>
          <a:r>
            <a:rPr lang="pl-PL" dirty="0"/>
            <a:t>Graf ważony</a:t>
          </a:r>
          <a:endParaRPr lang="en-US" dirty="0"/>
        </a:p>
      </dgm:t>
    </dgm:pt>
    <dgm:pt modelId="{BA9EBE2A-C785-4EBE-9F76-3670C4BEE40A}" type="parTrans" cxnId="{B7F68D53-F1BC-42BE-8EE3-133624CCCFD9}">
      <dgm:prSet/>
      <dgm:spPr/>
      <dgm:t>
        <a:bodyPr/>
        <a:lstStyle/>
        <a:p>
          <a:endParaRPr lang="en-US"/>
        </a:p>
      </dgm:t>
    </dgm:pt>
    <dgm:pt modelId="{05D6A90D-8AE5-4394-A815-9F796247C7F2}" type="sibTrans" cxnId="{B7F68D53-F1BC-42BE-8EE3-133624CCCFD9}">
      <dgm:prSet/>
      <dgm:spPr/>
      <dgm:t>
        <a:bodyPr/>
        <a:lstStyle/>
        <a:p>
          <a:endParaRPr lang="en-US"/>
        </a:p>
      </dgm:t>
    </dgm:pt>
    <dgm:pt modelId="{5086CA7D-7E5C-46EE-9564-70600B620773}">
      <dgm:prSet/>
      <dgm:spPr/>
      <dgm:t>
        <a:bodyPr/>
        <a:lstStyle/>
        <a:p>
          <a:r>
            <a:rPr lang="pl-PL" dirty="0"/>
            <a:t>Siatka 2D</a:t>
          </a:r>
          <a:endParaRPr lang="en-US" dirty="0"/>
        </a:p>
      </dgm:t>
    </dgm:pt>
    <dgm:pt modelId="{2D8ED648-2D20-4A37-87FA-588770CDEFD0}" type="parTrans" cxnId="{6EE6CC50-757E-4059-80F7-311D7265635F}">
      <dgm:prSet/>
      <dgm:spPr/>
      <dgm:t>
        <a:bodyPr/>
        <a:lstStyle/>
        <a:p>
          <a:endParaRPr lang="en-US"/>
        </a:p>
      </dgm:t>
    </dgm:pt>
    <dgm:pt modelId="{18DDFA45-CAC6-4886-A26F-A9F5600F592E}" type="sibTrans" cxnId="{6EE6CC50-757E-4059-80F7-311D7265635F}">
      <dgm:prSet/>
      <dgm:spPr/>
      <dgm:t>
        <a:bodyPr/>
        <a:lstStyle/>
        <a:p>
          <a:endParaRPr lang="en-US"/>
        </a:p>
      </dgm:t>
    </dgm:pt>
    <dgm:pt modelId="{57B4BEF9-AEE7-4DA5-AF19-297CDC77FDF0}">
      <dgm:prSet/>
      <dgm:spPr/>
      <dgm:t>
        <a:bodyPr/>
        <a:lstStyle/>
        <a:p>
          <a:r>
            <a:rPr lang="pl-PL" dirty="0"/>
            <a:t>Drogowa mapa Rzeszowa</a:t>
          </a:r>
          <a:endParaRPr lang="en-US" dirty="0"/>
        </a:p>
      </dgm:t>
    </dgm:pt>
    <dgm:pt modelId="{A7CAAC86-FE6C-4D2E-BB77-253EDE6DFEE2}" type="parTrans" cxnId="{E23D22B4-29AF-4808-BC22-51388A30CA24}">
      <dgm:prSet/>
      <dgm:spPr/>
      <dgm:t>
        <a:bodyPr/>
        <a:lstStyle/>
        <a:p>
          <a:endParaRPr lang="en-US"/>
        </a:p>
      </dgm:t>
    </dgm:pt>
    <dgm:pt modelId="{701D83D7-12B3-4EC9-A8C2-1EA2206DC712}" type="sibTrans" cxnId="{E23D22B4-29AF-4808-BC22-51388A30CA24}">
      <dgm:prSet/>
      <dgm:spPr/>
      <dgm:t>
        <a:bodyPr/>
        <a:lstStyle/>
        <a:p>
          <a:endParaRPr lang="en-US"/>
        </a:p>
      </dgm:t>
    </dgm:pt>
    <dgm:pt modelId="{5E8ADF10-8331-4FDF-B695-1A2ACE2B21D5}" type="pres">
      <dgm:prSet presAssocID="{B46EBDB5-DF17-4BB8-9F11-8AE23E5FD712}" presName="linear" presStyleCnt="0">
        <dgm:presLayoutVars>
          <dgm:animLvl val="lvl"/>
          <dgm:resizeHandles val="exact"/>
        </dgm:presLayoutVars>
      </dgm:prSet>
      <dgm:spPr/>
    </dgm:pt>
    <dgm:pt modelId="{8A6935CA-1AD1-40BD-9B58-0B49840AD9C8}" type="pres">
      <dgm:prSet presAssocID="{161026F7-3FFF-42D6-8D20-75DAA6A440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CAEA1C0-71B9-4E19-B4EF-81E7673F94FB}" type="pres">
      <dgm:prSet presAssocID="{05D6A90D-8AE5-4394-A815-9F796247C7F2}" presName="spacer" presStyleCnt="0"/>
      <dgm:spPr/>
    </dgm:pt>
    <dgm:pt modelId="{BF8B0780-3A00-45D1-8A69-66DB81037EE3}" type="pres">
      <dgm:prSet presAssocID="{5086CA7D-7E5C-46EE-9564-70600B62077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2AECDE-8F99-472C-9D7E-C02868711809}" type="pres">
      <dgm:prSet presAssocID="{18DDFA45-CAC6-4886-A26F-A9F5600F592E}" presName="spacer" presStyleCnt="0"/>
      <dgm:spPr/>
    </dgm:pt>
    <dgm:pt modelId="{DA453BF0-00D3-41A8-B0AD-D099D3254409}" type="pres">
      <dgm:prSet presAssocID="{57B4BEF9-AEE7-4DA5-AF19-297CDC77FDF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7D3E42F-38B2-45BC-8398-2FC177966807}" type="presOf" srcId="{B46EBDB5-DF17-4BB8-9F11-8AE23E5FD712}" destId="{5E8ADF10-8331-4FDF-B695-1A2ACE2B21D5}" srcOrd="0" destOrd="0" presId="urn:microsoft.com/office/officeart/2005/8/layout/vList2"/>
    <dgm:cxn modelId="{6EE6CC50-757E-4059-80F7-311D7265635F}" srcId="{B46EBDB5-DF17-4BB8-9F11-8AE23E5FD712}" destId="{5086CA7D-7E5C-46EE-9564-70600B620773}" srcOrd="1" destOrd="0" parTransId="{2D8ED648-2D20-4A37-87FA-588770CDEFD0}" sibTransId="{18DDFA45-CAC6-4886-A26F-A9F5600F592E}"/>
    <dgm:cxn modelId="{B7F68D53-F1BC-42BE-8EE3-133624CCCFD9}" srcId="{B46EBDB5-DF17-4BB8-9F11-8AE23E5FD712}" destId="{161026F7-3FFF-42D6-8D20-75DAA6A44099}" srcOrd="0" destOrd="0" parTransId="{BA9EBE2A-C785-4EBE-9F76-3670C4BEE40A}" sibTransId="{05D6A90D-8AE5-4394-A815-9F796247C7F2}"/>
    <dgm:cxn modelId="{CDD7D555-A61E-4AD1-AE60-B3D02E912D68}" type="presOf" srcId="{57B4BEF9-AEE7-4DA5-AF19-297CDC77FDF0}" destId="{DA453BF0-00D3-41A8-B0AD-D099D3254409}" srcOrd="0" destOrd="0" presId="urn:microsoft.com/office/officeart/2005/8/layout/vList2"/>
    <dgm:cxn modelId="{E23D22B4-29AF-4808-BC22-51388A30CA24}" srcId="{B46EBDB5-DF17-4BB8-9F11-8AE23E5FD712}" destId="{57B4BEF9-AEE7-4DA5-AF19-297CDC77FDF0}" srcOrd="2" destOrd="0" parTransId="{A7CAAC86-FE6C-4D2E-BB77-253EDE6DFEE2}" sibTransId="{701D83D7-12B3-4EC9-A8C2-1EA2206DC712}"/>
    <dgm:cxn modelId="{6AE714E2-7C32-4445-9D6C-30C80624F278}" type="presOf" srcId="{161026F7-3FFF-42D6-8D20-75DAA6A44099}" destId="{8A6935CA-1AD1-40BD-9B58-0B49840AD9C8}" srcOrd="0" destOrd="0" presId="urn:microsoft.com/office/officeart/2005/8/layout/vList2"/>
    <dgm:cxn modelId="{A8F71BEC-78E5-4987-A2CE-072068D6C644}" type="presOf" srcId="{5086CA7D-7E5C-46EE-9564-70600B620773}" destId="{BF8B0780-3A00-45D1-8A69-66DB81037EE3}" srcOrd="0" destOrd="0" presId="urn:microsoft.com/office/officeart/2005/8/layout/vList2"/>
    <dgm:cxn modelId="{F555A7FB-5884-441E-BBA9-67BCC1C810FA}" type="presParOf" srcId="{5E8ADF10-8331-4FDF-B695-1A2ACE2B21D5}" destId="{8A6935CA-1AD1-40BD-9B58-0B49840AD9C8}" srcOrd="0" destOrd="0" presId="urn:microsoft.com/office/officeart/2005/8/layout/vList2"/>
    <dgm:cxn modelId="{2B2B3409-0D44-4977-B3DB-9456B26B9897}" type="presParOf" srcId="{5E8ADF10-8331-4FDF-B695-1A2ACE2B21D5}" destId="{ECAEA1C0-71B9-4E19-B4EF-81E7673F94FB}" srcOrd="1" destOrd="0" presId="urn:microsoft.com/office/officeart/2005/8/layout/vList2"/>
    <dgm:cxn modelId="{783790D5-4609-4170-AC62-A63187675D4A}" type="presParOf" srcId="{5E8ADF10-8331-4FDF-B695-1A2ACE2B21D5}" destId="{BF8B0780-3A00-45D1-8A69-66DB81037EE3}" srcOrd="2" destOrd="0" presId="urn:microsoft.com/office/officeart/2005/8/layout/vList2"/>
    <dgm:cxn modelId="{9E9540EA-8400-48FD-93AD-8EB19140A224}" type="presParOf" srcId="{5E8ADF10-8331-4FDF-B695-1A2ACE2B21D5}" destId="{732AECDE-8F99-472C-9D7E-C02868711809}" srcOrd="3" destOrd="0" presId="urn:microsoft.com/office/officeart/2005/8/layout/vList2"/>
    <dgm:cxn modelId="{7D05FD15-AA05-42D7-82AE-DFE693AE14EC}" type="presParOf" srcId="{5E8ADF10-8331-4FDF-B695-1A2ACE2B21D5}" destId="{DA453BF0-00D3-41A8-B0AD-D099D325440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8EC24-02D2-40FF-B28D-37E2A763FDB2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CB58C-61E1-4FE0-BD59-D271AB4633BB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000" kern="1200"/>
            <a:t>Sprawdzenie, jak skuteczny jest A* w różnych środowiskach</a:t>
          </a:r>
          <a:endParaRPr lang="en-US" sz="4000" kern="1200"/>
        </a:p>
      </dsp:txBody>
      <dsp:txXfrm>
        <a:off x="696297" y="538547"/>
        <a:ext cx="4171627" cy="2590157"/>
      </dsp:txXfrm>
    </dsp:sp>
    <dsp:sp modelId="{C229BC4B-CD4A-4C8E-8E88-F79DF544151A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D3368-C706-4707-A3A3-13EA5B3345D8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000" kern="1200"/>
            <a:t>Porównanie go z innymi algorytmami tj. Dijkstra, BFS</a:t>
          </a:r>
          <a:endParaRPr lang="en-US" sz="40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935CA-1AD1-40BD-9B58-0B49840AD9C8}">
      <dsp:nvSpPr>
        <dsp:cNvPr id="0" name=""/>
        <dsp:cNvSpPr/>
      </dsp:nvSpPr>
      <dsp:spPr>
        <a:xfrm>
          <a:off x="0" y="515831"/>
          <a:ext cx="53324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/>
            <a:t>A* z heurystyką Euklidesową</a:t>
          </a:r>
          <a:endParaRPr lang="en-US" sz="2100" kern="1200" dirty="0"/>
        </a:p>
      </dsp:txBody>
      <dsp:txXfrm>
        <a:off x="25188" y="541019"/>
        <a:ext cx="5282037" cy="465594"/>
      </dsp:txXfrm>
    </dsp:sp>
    <dsp:sp modelId="{BF8B0780-3A00-45D1-8A69-66DB81037EE3}">
      <dsp:nvSpPr>
        <dsp:cNvPr id="0" name=""/>
        <dsp:cNvSpPr/>
      </dsp:nvSpPr>
      <dsp:spPr>
        <a:xfrm>
          <a:off x="0" y="1092281"/>
          <a:ext cx="53324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A* z heurystyką Manhattan</a:t>
          </a:r>
          <a:endParaRPr lang="en-US" sz="2100" kern="1200"/>
        </a:p>
      </dsp:txBody>
      <dsp:txXfrm>
        <a:off x="25188" y="1117469"/>
        <a:ext cx="5282037" cy="465594"/>
      </dsp:txXfrm>
    </dsp:sp>
    <dsp:sp modelId="{DA453BF0-00D3-41A8-B0AD-D099D3254409}">
      <dsp:nvSpPr>
        <dsp:cNvPr id="0" name=""/>
        <dsp:cNvSpPr/>
      </dsp:nvSpPr>
      <dsp:spPr>
        <a:xfrm>
          <a:off x="0" y="1668731"/>
          <a:ext cx="53324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Dijkstra</a:t>
          </a:r>
          <a:endParaRPr lang="en-US" sz="2100" kern="1200"/>
        </a:p>
      </dsp:txBody>
      <dsp:txXfrm>
        <a:off x="25188" y="1693919"/>
        <a:ext cx="5282037" cy="465594"/>
      </dsp:txXfrm>
    </dsp:sp>
    <dsp:sp modelId="{3FBDF355-2604-4E9D-A004-E68E249114A1}">
      <dsp:nvSpPr>
        <dsp:cNvPr id="0" name=""/>
        <dsp:cNvSpPr/>
      </dsp:nvSpPr>
      <dsp:spPr>
        <a:xfrm>
          <a:off x="0" y="2245182"/>
          <a:ext cx="53324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BFS</a:t>
          </a:r>
          <a:endParaRPr lang="en-US" sz="2100" kern="1200"/>
        </a:p>
      </dsp:txBody>
      <dsp:txXfrm>
        <a:off x="25188" y="2270370"/>
        <a:ext cx="5282037" cy="465594"/>
      </dsp:txXfrm>
    </dsp:sp>
    <dsp:sp modelId="{096A5474-9FF9-4B0D-BBD7-69FC20F392BC}">
      <dsp:nvSpPr>
        <dsp:cNvPr id="0" name=""/>
        <dsp:cNvSpPr/>
      </dsp:nvSpPr>
      <dsp:spPr>
        <a:xfrm>
          <a:off x="0" y="2821632"/>
          <a:ext cx="53324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/>
            <a:t>DFS (pominięty w przypadku mapy drogowej)</a:t>
          </a:r>
          <a:endParaRPr lang="en-US" sz="2100" kern="1200" dirty="0"/>
        </a:p>
      </dsp:txBody>
      <dsp:txXfrm>
        <a:off x="25188" y="2846820"/>
        <a:ext cx="5282037" cy="465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935CA-1AD1-40BD-9B58-0B49840AD9C8}">
      <dsp:nvSpPr>
        <dsp:cNvPr id="0" name=""/>
        <dsp:cNvSpPr/>
      </dsp:nvSpPr>
      <dsp:spPr>
        <a:xfrm>
          <a:off x="0" y="221189"/>
          <a:ext cx="4440047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Graf ważony</a:t>
          </a:r>
          <a:endParaRPr lang="en-US" sz="2900" kern="1200" dirty="0"/>
        </a:p>
      </dsp:txBody>
      <dsp:txXfrm>
        <a:off x="34783" y="255972"/>
        <a:ext cx="4370481" cy="642964"/>
      </dsp:txXfrm>
    </dsp:sp>
    <dsp:sp modelId="{BF8B0780-3A00-45D1-8A69-66DB81037EE3}">
      <dsp:nvSpPr>
        <dsp:cNvPr id="0" name=""/>
        <dsp:cNvSpPr/>
      </dsp:nvSpPr>
      <dsp:spPr>
        <a:xfrm>
          <a:off x="0" y="1017240"/>
          <a:ext cx="4440047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Siatka 2D</a:t>
          </a:r>
          <a:endParaRPr lang="en-US" sz="2900" kern="1200" dirty="0"/>
        </a:p>
      </dsp:txBody>
      <dsp:txXfrm>
        <a:off x="34783" y="1052023"/>
        <a:ext cx="4370481" cy="642964"/>
      </dsp:txXfrm>
    </dsp:sp>
    <dsp:sp modelId="{DA453BF0-00D3-41A8-B0AD-D099D3254409}">
      <dsp:nvSpPr>
        <dsp:cNvPr id="0" name=""/>
        <dsp:cNvSpPr/>
      </dsp:nvSpPr>
      <dsp:spPr>
        <a:xfrm>
          <a:off x="0" y="1813290"/>
          <a:ext cx="4440047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Drogowa mapa Rzeszowa</a:t>
          </a:r>
          <a:endParaRPr lang="en-US" sz="2900" kern="1200" dirty="0"/>
        </a:p>
      </dsp:txBody>
      <dsp:txXfrm>
        <a:off x="34783" y="1848073"/>
        <a:ext cx="4370481" cy="642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3B7CB-3B39-4933-8971-2B04A5AC11B9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5D102-0043-48D4-B21A-6DA6EF1A44D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9346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5D102-0043-48D4-B21A-6DA6EF1A44D8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99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A5F711-62E7-08AB-CB2A-2E1997188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71A787C-6E0B-68BE-BDC1-CD2AD3FDF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9C95C7A-5F89-DC67-26C9-C4957ACE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D42A5F4-176B-FC22-22DA-5816A5C1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B589C8-8838-4A77-34D1-975F322E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8576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D41E04-9CCC-9545-E8DF-E88772C0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4DEBD6-9F11-68D3-F19D-7D168971E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0055548-7BEE-8C9D-D658-38B8D71C3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7B2D9A-110E-DEE1-7217-4CCE900E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A9DA5F6-175C-4214-9250-06909572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922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03B190-73F4-DF0D-C183-090F7B11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489AC44-0F5C-5408-C62D-018CAF7DE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BAA1939-5225-3B28-0786-3B1114B0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ECD659-0F80-36DC-A81E-9F2157E9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2A97A79-CC54-599A-089D-E4289CE0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59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897FE8-5C0A-BF0B-5255-34442292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DD5378-D3FE-3EDB-C824-2D967B5A1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3296B71-881C-7195-EF99-773CECD29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C7CAD28-D840-2680-CF6E-EF2D8122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53E7A48-FB62-3000-8099-4AEE7003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C0171F0-871A-E4D7-E9AB-545AEB36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08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6ADF5A-7DB6-BC09-5C03-F4FAD387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E8412FE-5C47-0511-8768-9DF16E2C2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3348234-C6EB-317F-25A4-069EB107D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AD90605-9C1F-0F07-76CC-2421D7156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B9F4177-A2C5-7A20-3544-02825E8E3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CFCD7E8-9177-5FAF-8CAF-B88F8159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C33ACB0-9C70-9761-020D-8157249A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4B2F3E7-3DC4-8A94-6A0D-9C3E893F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17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C7FDD3-0D29-1654-22BB-2A2F4E71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E941AB9-FC48-A7C6-0BBC-20959F96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FD37C9D-5F28-2F57-ECCD-758F33DE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E6798FB-9DB9-9FF0-C968-DE4DC3A4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4233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2BCEDD6-A5ED-B346-027C-B1794596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EC7124D-550E-A0B0-46B2-5232AF56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371A2B3-8044-142A-EA14-A956C999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065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37D4D2-F199-E858-8AA2-28B1C2EC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D4FF73-07FD-F94C-8B13-895E218EB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C2413F2-3A0C-996F-38D0-6C9426494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00DA58C-6D3D-F24A-B44A-7A8193DB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01A79B9-6A33-A93F-1E3B-D10212E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4491948-A171-2212-6565-F32D4D8D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024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32DA98-F4D1-5C78-C8A6-90B5435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4912039-620D-EA8B-4F5A-61CF33042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311708-CD65-38BB-9E81-74D3F358F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61C45FF-B7E0-08A4-4535-5EBCB4E2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A8B6CFF-0AD5-DAEE-AC98-07EA921B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81CB7EB-D52B-0B05-42D9-81C63C92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501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5E3BE5-ED78-B1AC-3999-C93223E6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9CBCE69-DBFD-D6DD-DF20-48D92D28C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2B4CFA9-86F2-3AC3-F665-6A4EEA4B0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23D55FE-8BB6-D550-99BE-5ACDF75E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249265-DFAC-B3FA-8907-5C9FA750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150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F8243B8-0EA3-FAD4-44DD-BBDA82FDD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79E31BB-92C6-F347-298F-943497E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9FB929-754B-1977-308C-658F940B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1BE33F-0D61-8619-23CC-9BCC2770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BBFA15-2FF7-FAD6-2373-4B23F24D5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347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0E3E3C5-C929-78BE-D91E-0CFD9FE68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94030A8-581B-51A5-5336-B9908A086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A36E2F-963B-09F5-9A6D-37B0FBD7D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A0D06-3415-41C8-870B-00E91F812644}" type="datetimeFigureOut">
              <a:rPr lang="pl-PL" smtClean="0"/>
              <a:t>10.07.2025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69D613B-A5DB-20EB-16F8-DC5EED265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B8B151-7E53-7C77-BF7E-E27540B2F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00283-2AA9-478B-AAE3-0A217FE75B9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964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Obraz zawierający Wielobarwność, zrzut ekranu, linia, sztuka&#10;&#10;Zawartość wygenerowana przez AI może być niepoprawna.">
            <a:extLst>
              <a:ext uri="{FF2B5EF4-FFF2-40B4-BE49-F238E27FC236}">
                <a16:creationId xmlns:a16="http://schemas.microsoft.com/office/drawing/2014/main" id="{15FE4AD5-1045-D0AB-1124-35C088D2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33" r="9089" b="290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2" name="Rectangle 4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4616043B-2BFD-73C6-95C3-F5C36B6B7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/>
              <a:t>Analiza i zastosowanie algorytmu A* w problemach optymalizacji ścieżek</a:t>
            </a:r>
          </a:p>
        </p:txBody>
      </p:sp>
      <p:sp>
        <p:nvSpPr>
          <p:cNvPr id="8" name="Podtytuł 7">
            <a:extLst>
              <a:ext uri="{FF2B5EF4-FFF2-40B4-BE49-F238E27FC236}">
                <a16:creationId xmlns:a16="http://schemas.microsoft.com/office/drawing/2014/main" id="{927E42D8-6AC8-F3F0-1DA7-0E90F2803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900" dirty="0"/>
              <a:t>Autor: Adrian Dereń</a:t>
            </a:r>
          </a:p>
          <a:p>
            <a:pPr algn="l"/>
            <a:r>
              <a:rPr lang="en-US" sz="1900" dirty="0"/>
              <a:t>Promotor: dr Paweł Bednarz</a:t>
            </a:r>
          </a:p>
          <a:p>
            <a:pPr algn="l"/>
            <a:r>
              <a:rPr lang="en-US" sz="1900" dirty="0" err="1"/>
              <a:t>Kierunek</a:t>
            </a:r>
            <a:r>
              <a:rPr lang="en-US" sz="1900" dirty="0"/>
              <a:t>: </a:t>
            </a:r>
            <a:r>
              <a:rPr lang="en-US" sz="1900" dirty="0" err="1"/>
              <a:t>Inżynieria</a:t>
            </a:r>
            <a:r>
              <a:rPr lang="en-US" sz="1900" dirty="0"/>
              <a:t> </a:t>
            </a:r>
            <a:r>
              <a:rPr lang="en-US" sz="1900" dirty="0" err="1"/>
              <a:t>i</a:t>
            </a:r>
            <a:r>
              <a:rPr lang="en-US" sz="1900" dirty="0"/>
              <a:t> </a:t>
            </a:r>
            <a:r>
              <a:rPr lang="en-US" sz="1900" dirty="0" err="1"/>
              <a:t>analiza</a:t>
            </a:r>
            <a:r>
              <a:rPr lang="en-US" sz="1900" dirty="0"/>
              <a:t> </a:t>
            </a:r>
            <a:r>
              <a:rPr lang="en-US" sz="1900" dirty="0" err="1"/>
              <a:t>danych</a:t>
            </a:r>
            <a:endParaRPr lang="en-US" sz="19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sp>
        <p:nvSpPr>
          <p:cNvPr id="53" name="Rectangle 4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899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46787B-845E-F372-C0AF-E2C2C2FD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l-PL" sz="4800"/>
              <a:t>Cel pracy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0D2BC39-1B04-025C-CCCF-2879B74082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90015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69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78FB942-FCAF-4303-3709-D2B78491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851840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Jak </a:t>
            </a:r>
            <a:r>
              <a:rPr lang="en-US" sz="36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działa</a:t>
            </a: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A*?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CA994A-4465-310C-FE49-4D0097244051}"/>
                  </a:ext>
                </a:extLst>
              </p:cNvPr>
              <p:cNvSpPr txBox="1"/>
              <p:nvPr/>
            </p:nvSpPr>
            <p:spPr>
              <a:xfrm>
                <a:off x="1179226" y="3329677"/>
                <a:ext cx="9833548" cy="24572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  <a:buSzPct val="87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90000"/>
                  </a:lnSpc>
                  <a:spcAft>
                    <a:spcPts val="1000"/>
                  </a:spcAft>
                  <a:buSzPct val="87000"/>
                </a:pPr>
                <a:r>
                  <a:rPr lang="en-US" dirty="0">
                    <a:solidFill>
                      <a:schemeClr val="tx2"/>
                    </a:solidFill>
                  </a:rPr>
                  <a:t>gdzie</a:t>
                </a:r>
                <a:r>
                  <a:rPr lang="en-US" b="1" dirty="0">
                    <a:solidFill>
                      <a:schemeClr val="tx2"/>
                    </a:solidFill>
                  </a:rPr>
                  <a:t>:</a:t>
                </a:r>
                <a:endParaRPr lang="en-US" dirty="0">
                  <a:solidFill>
                    <a:schemeClr val="tx2"/>
                  </a:solidFill>
                </a:endParaRPr>
              </a:p>
              <a:p>
                <a:pPr marL="457200" indent="-228600">
                  <a:lnSpc>
                    <a:spcPct val="90000"/>
                  </a:lnSpc>
                  <a:spcAft>
                    <a:spcPts val="1000"/>
                  </a:spcAft>
                  <a:buSzPct val="87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znany </a:t>
                </a:r>
                <a:r>
                  <a:rPr lang="en-US" dirty="0" err="1">
                    <a:solidFill>
                      <a:schemeClr val="tx2"/>
                    </a:solidFill>
                  </a:rPr>
                  <a:t>koszt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dojścia</a:t>
                </a:r>
                <a:r>
                  <a:rPr lang="en-US" dirty="0">
                    <a:solidFill>
                      <a:schemeClr val="tx2"/>
                    </a:solidFill>
                  </a:rPr>
                  <a:t> z </a:t>
                </a:r>
                <a:r>
                  <a:rPr lang="en-US" dirty="0" err="1">
                    <a:solidFill>
                      <a:schemeClr val="tx2"/>
                    </a:solidFill>
                  </a:rPr>
                  <a:t>wierzchołka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początkowego</a:t>
                </a:r>
                <a:r>
                  <a:rPr lang="en-US" dirty="0">
                    <a:solidFill>
                      <a:schemeClr val="tx2"/>
                    </a:solidFill>
                  </a:rPr>
                  <a:t> do </a:t>
                </a:r>
                <a:r>
                  <a:rPr lang="en-US" dirty="0" err="1">
                    <a:solidFill>
                      <a:schemeClr val="tx2"/>
                    </a:solidFill>
                  </a:rPr>
                  <a:t>bieżącego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wierzchołka</a:t>
                </a:r>
                <a:r>
                  <a:rPr lang="en-US" b="1" i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,</a:t>
                </a:r>
              </a:p>
              <a:p>
                <a:pPr marL="457200" indent="-228600">
                  <a:lnSpc>
                    <a:spcPct val="90000"/>
                  </a:lnSpc>
                  <a:spcAft>
                    <a:spcPts val="1000"/>
                  </a:spcAft>
                  <a:buSzPct val="87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heurystyczne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oszacowanie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kosztu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dojścia</a:t>
                </a:r>
                <a:r>
                  <a:rPr lang="en-US" dirty="0">
                    <a:solidFill>
                      <a:schemeClr val="tx2"/>
                    </a:solidFill>
                  </a:rPr>
                  <a:t> z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 do </a:t>
                </a:r>
                <a:r>
                  <a:rPr lang="en-US" dirty="0" err="1">
                    <a:solidFill>
                      <a:schemeClr val="tx2"/>
                    </a:solidFill>
                  </a:rPr>
                  <a:t>celu</a:t>
                </a:r>
                <a:r>
                  <a:rPr lang="en-US" dirty="0">
                    <a:solidFill>
                      <a:schemeClr val="tx2"/>
                    </a:solidFill>
                  </a:rPr>
                  <a:t>,</a:t>
                </a:r>
              </a:p>
              <a:p>
                <a:pPr marL="457200" indent="-228600">
                  <a:lnSpc>
                    <a:spcPct val="90000"/>
                  </a:lnSpc>
                  <a:spcAft>
                    <a:spcPts val="1000"/>
                  </a:spcAft>
                  <a:buSzPct val="87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łączny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przewidywany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koszt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dotarcia</a:t>
                </a:r>
                <a:r>
                  <a:rPr lang="en-US" dirty="0">
                    <a:solidFill>
                      <a:schemeClr val="tx2"/>
                    </a:solidFill>
                  </a:rPr>
                  <a:t> do </a:t>
                </a:r>
                <a:r>
                  <a:rPr lang="en-US" dirty="0" err="1">
                    <a:solidFill>
                      <a:schemeClr val="tx2"/>
                    </a:solidFill>
                  </a:rPr>
                  <a:t>celu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 err="1">
                    <a:solidFill>
                      <a:schemeClr val="tx2"/>
                    </a:solidFill>
                  </a:rPr>
                  <a:t>przez</a:t>
                </a:r>
                <a:r>
                  <a:rPr lang="en-US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CA994A-4465-310C-FE49-4D0097244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226" y="3329677"/>
                <a:ext cx="9833548" cy="2457269"/>
              </a:xfrm>
              <a:prstGeom prst="rect">
                <a:avLst/>
              </a:prstGeom>
              <a:blipFill>
                <a:blip r:embed="rId2"/>
                <a:stretch>
                  <a:fillRect l="-4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66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35F6A273-6AB9-FC72-E696-3F0295588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Porównywane algorytmy i środowiska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8B41873-01D8-3F6F-1118-B6C83E028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163" y="1366838"/>
            <a:ext cx="5157787" cy="823912"/>
          </a:xfrm>
        </p:spPr>
        <p:txBody>
          <a:bodyPr/>
          <a:lstStyle/>
          <a:p>
            <a:r>
              <a:rPr lang="pl-PL" dirty="0"/>
              <a:t>Testowane algorytmy:</a:t>
            </a:r>
          </a:p>
        </p:txBody>
      </p:sp>
      <p:graphicFrame>
        <p:nvGraphicFramePr>
          <p:cNvPr id="10" name="Symbol zastępczy zawartości 5">
            <a:extLst>
              <a:ext uri="{FF2B5EF4-FFF2-40B4-BE49-F238E27FC236}">
                <a16:creationId xmlns:a16="http://schemas.microsoft.com/office/drawing/2014/main" id="{F178EC14-6A01-3693-4D49-FCC4D6B277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6210720"/>
              </p:ext>
            </p:extLst>
          </p:nvPr>
        </p:nvGraphicFramePr>
        <p:xfrm>
          <a:off x="665163" y="2346198"/>
          <a:ext cx="5332413" cy="3853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6E523E5B-B28D-605A-D382-EEEAFEBA3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66838"/>
            <a:ext cx="5183188" cy="823912"/>
          </a:xfrm>
        </p:spPr>
        <p:txBody>
          <a:bodyPr/>
          <a:lstStyle/>
          <a:p>
            <a:r>
              <a:rPr lang="pl-PL" dirty="0"/>
              <a:t>Środowiska:</a:t>
            </a:r>
          </a:p>
        </p:txBody>
      </p:sp>
      <p:graphicFrame>
        <p:nvGraphicFramePr>
          <p:cNvPr id="11" name="Symbol zastępczy zawartości 5">
            <a:extLst>
              <a:ext uri="{FF2B5EF4-FFF2-40B4-BE49-F238E27FC236}">
                <a16:creationId xmlns:a16="http://schemas.microsoft.com/office/drawing/2014/main" id="{6477F7D8-6D11-8D8B-8727-7B0584AFB3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0512464"/>
              </p:ext>
            </p:extLst>
          </p:nvPr>
        </p:nvGraphicFramePr>
        <p:xfrm>
          <a:off x="6313297" y="2821686"/>
          <a:ext cx="4440047" cy="2747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9304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ytuł 7">
            <a:extLst>
              <a:ext uri="{FF2B5EF4-FFF2-40B4-BE49-F238E27FC236}">
                <a16:creationId xmlns:a16="http://schemas.microsoft.com/office/drawing/2014/main" id="{012C4A1D-E665-AAA1-7763-338A883B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8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Przykładowy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wynik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</a:t>
            </a:r>
            <a:r>
              <a:rPr lang="pl-PL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losowym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grafie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ważonym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Obraz 10" descr="Obraz zawierający płatek śniegu, wzór&#10;&#10;Zawartość wygenerowana przez AI może być niepoprawna.">
            <a:extLst>
              <a:ext uri="{FF2B5EF4-FFF2-40B4-BE49-F238E27FC236}">
                <a16:creationId xmlns:a16="http://schemas.microsoft.com/office/drawing/2014/main" id="{856BE7B3-68A0-D8D6-CBF5-67C9CDDBF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922" y="1396588"/>
            <a:ext cx="10584155" cy="5318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785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3">
            <a:extLst>
              <a:ext uri="{FF2B5EF4-FFF2-40B4-BE49-F238E27FC236}">
                <a16:creationId xmlns:a16="http://schemas.microsoft.com/office/drawing/2014/main" id="{201C88F9-E440-45DE-A776-9609EB590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6FE12B4-25A4-B3CA-16D1-E07DD6BB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50" y="-71654"/>
            <a:ext cx="4638325" cy="27196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Przykładow</a:t>
            </a:r>
            <a:r>
              <a:rPr lang="pl-PL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wynik</a:t>
            </a:r>
            <a:r>
              <a:rPr lang="pl-PL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siatce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2D</a:t>
            </a:r>
          </a:p>
        </p:txBody>
      </p:sp>
      <p:pic>
        <p:nvPicPr>
          <p:cNvPr id="9" name="Obraz 8" descr="Obraz zawierający diagram, kwadrat, wzór, piksel&#10;&#10;Zawartość wygenerowana przez AI może być niepoprawna.">
            <a:extLst>
              <a:ext uri="{FF2B5EF4-FFF2-40B4-BE49-F238E27FC236}">
                <a16:creationId xmlns:a16="http://schemas.microsoft.com/office/drawing/2014/main" id="{9621EF1E-70A2-B2AA-F6D4-3F69EE0D4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332" y="110187"/>
            <a:ext cx="3149250" cy="3280281"/>
          </a:xfrm>
          <a:prstGeom prst="rect">
            <a:avLst/>
          </a:prstGeom>
        </p:spPr>
      </p:pic>
      <p:pic>
        <p:nvPicPr>
          <p:cNvPr id="7" name="Obraz 6" descr="Obraz zawierający diagram, kwadrat, wzór, piksel&#10;&#10;Zawartość wygenerowana przez AI może być niepoprawna.">
            <a:extLst>
              <a:ext uri="{FF2B5EF4-FFF2-40B4-BE49-F238E27FC236}">
                <a16:creationId xmlns:a16="http://schemas.microsoft.com/office/drawing/2014/main" id="{EE1EF79F-BBD4-064A-CFFB-89294B2A7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780" y="77876"/>
            <a:ext cx="3157270" cy="328028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3E729D5B-E31D-2E0C-A368-FE9BB0AA9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723" y="2719604"/>
            <a:ext cx="3322863" cy="3497750"/>
          </a:xfrm>
          <a:prstGeom prst="rect">
            <a:avLst/>
          </a:prstGeom>
          <a:noFill/>
        </p:spPr>
      </p:pic>
      <p:pic>
        <p:nvPicPr>
          <p:cNvPr id="6" name="Obraz 5" descr="Obraz zawierający piksel, wzór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1FC71926-ACA2-12E1-B422-42E4385DE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825" y="3499844"/>
            <a:ext cx="3149250" cy="3297644"/>
          </a:xfrm>
          <a:prstGeom prst="rect">
            <a:avLst/>
          </a:prstGeom>
        </p:spPr>
      </p:pic>
      <p:pic>
        <p:nvPicPr>
          <p:cNvPr id="4" name="Obraz 3" descr="Obraz zawierający piksel, wzór, diagram, Wielobarwność&#10;&#10;Zawartość wygenerowana przez AI może być niepoprawna.">
            <a:extLst>
              <a:ext uri="{FF2B5EF4-FFF2-40B4-BE49-F238E27FC236}">
                <a16:creationId xmlns:a16="http://schemas.microsoft.com/office/drawing/2014/main" id="{53008349-69CA-F547-DE01-368AA72005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4400" y="3499844"/>
            <a:ext cx="3149250" cy="32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72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589FC8B-CDB7-BDE6-CDCC-96FED324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Przykładowy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wynik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mapie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drogowej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Symbol zastępczy zawartości 3" descr="Obraz zawierający zrzut ekranu, tekst, diagram, mapa&#10;&#10;Zawartość wygenerowana przez AI może być niepoprawna.">
            <a:extLst>
              <a:ext uri="{FF2B5EF4-FFF2-40B4-BE49-F238E27FC236}">
                <a16:creationId xmlns:a16="http://schemas.microsoft.com/office/drawing/2014/main" id="{19E0C252-0036-5642-6C32-C63F45FAD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9250" y="1458120"/>
            <a:ext cx="10144050" cy="5325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806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02788AB-EF51-5B99-17B2-576A8C20A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Podsumowanie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EF26D2E-C24C-9294-306E-7ACB90F5DA56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500" dirty="0"/>
          </a:p>
        </p:txBody>
      </p:sp>
      <p:graphicFrame>
        <p:nvGraphicFramePr>
          <p:cNvPr id="9" name="Symbol zastępczy zawartości 8">
            <a:extLst>
              <a:ext uri="{FF2B5EF4-FFF2-40B4-BE49-F238E27FC236}">
                <a16:creationId xmlns:a16="http://schemas.microsoft.com/office/drawing/2014/main" id="{14531050-E060-DBCB-A7EC-DB6D90D7E8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8556994"/>
              </p:ext>
            </p:extLst>
          </p:nvPr>
        </p:nvGraphicFramePr>
        <p:xfrm>
          <a:off x="320040" y="2733848"/>
          <a:ext cx="11768327" cy="338560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276413">
                  <a:extLst>
                    <a:ext uri="{9D8B030D-6E8A-4147-A177-3AD203B41FA5}">
                      <a16:colId xmlns:a16="http://schemas.microsoft.com/office/drawing/2014/main" val="4105293444"/>
                    </a:ext>
                  </a:extLst>
                </a:gridCol>
                <a:gridCol w="3490651">
                  <a:extLst>
                    <a:ext uri="{9D8B030D-6E8A-4147-A177-3AD203B41FA5}">
                      <a16:colId xmlns:a16="http://schemas.microsoft.com/office/drawing/2014/main" val="3064289367"/>
                    </a:ext>
                  </a:extLst>
                </a:gridCol>
                <a:gridCol w="2986377">
                  <a:extLst>
                    <a:ext uri="{9D8B030D-6E8A-4147-A177-3AD203B41FA5}">
                      <a16:colId xmlns:a16="http://schemas.microsoft.com/office/drawing/2014/main" val="1320604345"/>
                    </a:ext>
                  </a:extLst>
                </a:gridCol>
                <a:gridCol w="3014886">
                  <a:extLst>
                    <a:ext uri="{9D8B030D-6E8A-4147-A177-3AD203B41FA5}">
                      <a16:colId xmlns:a16="http://schemas.microsoft.com/office/drawing/2014/main" val="1855239561"/>
                    </a:ext>
                  </a:extLst>
                </a:gridCol>
              </a:tblGrid>
              <a:tr h="286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Algorytm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Graf ważony (symulowany)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Siatka 2D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Mapa drogowa (Rzeszów)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233719"/>
                  </a:ext>
                </a:extLst>
              </a:tr>
              <a:tr h="516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Dijkstra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Dokładna i stabilna (uwzględnia wagi)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Poprawna, ale wolniejsza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Optymalna trasa głównymi drogami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411219"/>
                  </a:ext>
                </a:extLst>
              </a:tr>
              <a:tr h="516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A* (euklidesowa)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Jak Dijkstra, ale szybsza dzięki heurystyce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Bardzo dobra, szybka i efektywna</a:t>
                      </a:r>
                      <a:endParaRPr lang="pl-PL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Najlepsza – szybka i optymalna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144111"/>
                  </a:ext>
                </a:extLst>
              </a:tr>
              <a:tr h="516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A* (manhattan)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Równa euklidesowej w tym przypadku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Najlepsza – najlepiej pasuje do siatki</a:t>
                      </a:r>
                      <a:endParaRPr lang="pl-PL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❌ Gorsza – heurystyka niedopasowana do układu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500335"/>
                  </a:ext>
                </a:extLst>
              </a:tr>
              <a:tr h="516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A* (zła heurystyka - indeksowa)</a:t>
                      </a:r>
                      <a:endParaRPr lang="pl-PL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❌ Nieoptymalna – prowadzi gorzej niż Dijkstra</a:t>
                      </a:r>
                      <a:endParaRPr lang="pl-PL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– </a:t>
                      </a:r>
                      <a:endParaRPr lang="pl-PL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556446"/>
                  </a:ext>
                </a:extLst>
              </a:tr>
              <a:tr h="516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BFS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Znajduje poprawną, ale często dłuższą trasę (ignoruje wagi)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✅  Optymalna – ponieważ wszystkie wagi = 1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❌ Często omija główne drogi, trasy dłuższe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995323"/>
                  </a:ext>
                </a:extLst>
              </a:tr>
              <a:tr h="5165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1" u="none" strike="noStrike">
                          <a:solidFill>
                            <a:srgbClr val="000000"/>
                          </a:solidFill>
                          <a:effectLst/>
                        </a:rPr>
                        <a:t>DFS</a:t>
                      </a:r>
                      <a:endParaRPr lang="pl-PL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❌ Zbacza z trasy, niestabilny wynik, wysoki koszt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❌ Chaotyczny, nieoptymalny</a:t>
                      </a:r>
                      <a:endParaRPr lang="pl-PL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– </a:t>
                      </a:r>
                      <a:endParaRPr lang="pl-PL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702" marR="9702" marT="970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79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283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C6D322-20BC-5772-DE0D-15980E0A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Dziękuję za uwagę!</a:t>
            </a:r>
          </a:p>
        </p:txBody>
      </p:sp>
    </p:spTree>
    <p:extLst>
      <p:ext uri="{BB962C8B-B14F-4D97-AF65-F5344CB8AC3E}">
        <p14:creationId xmlns:p14="http://schemas.microsoft.com/office/powerpoint/2010/main" val="270159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305</Words>
  <Application>Microsoft Office PowerPoint</Application>
  <PresentationFormat>Panoramiczny</PresentationFormat>
  <Paragraphs>58</Paragraphs>
  <Slides>9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Calibri</vt:lpstr>
      <vt:lpstr>Cambria Math</vt:lpstr>
      <vt:lpstr>Motyw pakietu Office</vt:lpstr>
      <vt:lpstr>Analiza i zastosowanie algorytmu A* w problemach optymalizacji ścieżek</vt:lpstr>
      <vt:lpstr>Cel pracy</vt:lpstr>
      <vt:lpstr>Jak działa A*?</vt:lpstr>
      <vt:lpstr>Porównywane algorytmy i środowiska</vt:lpstr>
      <vt:lpstr>Przykładowy wynik na losowym grafie ważonym</vt:lpstr>
      <vt:lpstr>Przykładowe wyniki na siatce 2D</vt:lpstr>
      <vt:lpstr>Przykładowy wynik na mapie drogowej</vt:lpstr>
      <vt:lpstr>Podsumowanie</vt:lpstr>
      <vt:lpstr>Dziękuję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Dereń</dc:creator>
  <cp:lastModifiedBy>Adrian Dereń</cp:lastModifiedBy>
  <cp:revision>5</cp:revision>
  <dcterms:created xsi:type="dcterms:W3CDTF">2025-07-08T14:14:42Z</dcterms:created>
  <dcterms:modified xsi:type="dcterms:W3CDTF">2025-07-10T07:22:05Z</dcterms:modified>
</cp:coreProperties>
</file>